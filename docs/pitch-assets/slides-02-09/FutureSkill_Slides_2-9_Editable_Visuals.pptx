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A72"/>
                </a:solidFill>
                <a:latin typeface="DejaVu Sans"/>
              </a:defRPr>
            </a:pPr>
            <a:r>
              <a:t>FUTURESKILL AI  /  VISUAL FOR SLIDE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338560" cy="8229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2324C"/>
                </a:solidFill>
                <a:latin typeface="DejaVu Sans"/>
              </a:defRPr>
            </a:pPr>
            <a:r>
              <a:t>Students need a clear next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1435608"/>
            <a:ext cx="11292840" cy="4754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49657D"/>
                </a:solidFill>
                <a:latin typeface="DejaVu Sans"/>
              </a:defRPr>
            </a:pPr>
            <a:r>
              <a:t>A team-defined problem hypothesis to validate through a student pilot.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2011680"/>
            <a:ext cx="41605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lassroom-pexels-70923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563830"/>
            <a:ext cx="3886200" cy="258987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" y="5577840"/>
            <a:ext cx="370332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49657D"/>
                </a:solidFill>
                <a:latin typeface="DejaVu Sans"/>
              </a:defRPr>
            </a:pPr>
            <a:r>
              <a:t>Illustrative classroom photograph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2011680"/>
            <a:ext cx="6903720" cy="1161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2011680"/>
            <a:ext cx="64008" cy="1161288"/>
          </a:xfrm>
          <a:prstGeom prst="rect">
            <a:avLst/>
          </a:prstGeom>
          <a:solidFill>
            <a:srgbClr val="08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121408"/>
            <a:ext cx="6382512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2324C"/>
                </a:solidFill>
                <a:latin typeface="DejaVu Sans"/>
              </a:defRPr>
            </a:pPr>
            <a:r>
              <a:t>Career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2578608"/>
            <a:ext cx="6382512" cy="4389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9657D"/>
                </a:solidFill>
                <a:latin typeface="DejaVu Sans"/>
              </a:defRPr>
            </a:pPr>
            <a:r>
              <a:t>Connect interests with roles worth exploring.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364992"/>
            <a:ext cx="6903720" cy="1161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0" y="3364992"/>
            <a:ext cx="64008" cy="1161288"/>
          </a:xfrm>
          <a:prstGeom prst="rect">
            <a:avLst/>
          </a:prstGeom>
          <a:solidFill>
            <a:srgbClr val="08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74920" y="3474720"/>
            <a:ext cx="6382512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2324C"/>
                </a:solidFill>
                <a:latin typeface="DejaVu Sans"/>
              </a:defRPr>
            </a:pPr>
            <a:r>
              <a:t>Skill priorities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3931920"/>
            <a:ext cx="6382512" cy="4389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9657D"/>
                </a:solidFill>
                <a:latin typeface="DejaVu Sans"/>
              </a:defRPr>
            </a:pPr>
            <a:r>
              <a:t>Identify areas that need further practice.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46320" y="4718304"/>
            <a:ext cx="6903720" cy="11612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46320" y="4718304"/>
            <a:ext cx="64008" cy="1161288"/>
          </a:xfrm>
          <a:prstGeom prst="rect">
            <a:avLst/>
          </a:prstGeom>
          <a:solidFill>
            <a:srgbClr val="087A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20" y="4828032"/>
            <a:ext cx="6382512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100" b="1">
                <a:solidFill>
                  <a:srgbClr val="12324C"/>
                </a:solidFill>
                <a:latin typeface="DejaVu Sans"/>
              </a:defRPr>
            </a:pPr>
            <a:r>
              <a:t>Practical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5285232"/>
            <a:ext cx="6382512" cy="438912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49657D"/>
                </a:solidFill>
                <a:latin typeface="DejaVu Sans"/>
              </a:defRPr>
            </a:pPr>
            <a:r>
              <a:t>Turn a chosen direction into weekly activities.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" y="6510528"/>
            <a:ext cx="1129284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50" b="0">
                <a:solidFill>
                  <a:srgbClr val="49657D"/>
                </a:solidFill>
                <a:latin typeface="DejaVu Sans"/>
              </a:defRPr>
            </a:pPr>
            <a:r>
              <a:t>[S2] Pexels photo 7092344. Photo is illustrative; the three needs are not measured research findings.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A72"/>
                </a:solidFill>
                <a:latin typeface="DejaVu Sans"/>
              </a:defRPr>
            </a:pPr>
            <a:r>
              <a:t>FUTURESKILL AI  /  VISUAL FOR SLIDE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338560" cy="8229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2324C"/>
                </a:solidFill>
                <a:latin typeface="DejaVu Sans"/>
              </a:defRPr>
            </a:pPr>
            <a:r>
              <a:t>Connect a career direction to weekly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1435608"/>
            <a:ext cx="11292840" cy="4754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49657D"/>
                </a:solidFill>
                <a:latin typeface="DejaVu Sans"/>
              </a:defRPr>
            </a:pPr>
            <a:r>
              <a:t>An integrated journey, with direct career browsing available alongside the assessment.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2377440"/>
            <a:ext cx="212140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3503" y="2542032"/>
            <a:ext cx="914400" cy="32918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87A72"/>
                </a:solidFill>
                <a:latin typeface="DejaVu San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3" y="2944368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324C"/>
                </a:solidFill>
                <a:latin typeface="DejaVu Sans"/>
              </a:defRPr>
            </a:pPr>
            <a:r>
              <a:t>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3" y="3456432"/>
            <a:ext cx="1828800" cy="685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350" b="0">
                <a:solidFill>
                  <a:srgbClr val="49657D"/>
                </a:solidFill>
                <a:latin typeface="DejaVu Sans"/>
              </a:defRPr>
            </a:pPr>
            <a:r>
              <a:t>42-question profile</a:t>
            </a:r>
          </a:p>
          <a:p>
            <a:pPr>
              <a:spcAft>
                <a:spcPts val="800"/>
              </a:spcAft>
              <a:defRPr sz="1350" b="0">
                <a:solidFill>
                  <a:srgbClr val="49657D"/>
                </a:solidFill>
                <a:latin typeface="DejaVu Sans"/>
              </a:defRPr>
            </a:pPr>
            <a:r>
              <a:t>or direct browsing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87752" y="3246120"/>
            <a:ext cx="182880" cy="0"/>
          </a:xfrm>
          <a:prstGeom prst="line">
            <a:avLst/>
          </a:prstGeom>
          <a:ln w="21590">
            <a:solidFill>
              <a:srgbClr val="087A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98064" y="2377440"/>
            <a:ext cx="212140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6" y="2542032"/>
            <a:ext cx="914400" cy="32918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87A72"/>
                </a:solidFill>
                <a:latin typeface="DejaVu San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62656" y="2944368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324C"/>
                </a:solidFill>
                <a:latin typeface="DejaVu Sans"/>
              </a:defRPr>
            </a:pPr>
            <a:r>
              <a:t>EXPLORE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2656" y="3456432"/>
            <a:ext cx="1828800" cy="685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350" b="0">
                <a:solidFill>
                  <a:srgbClr val="49657D"/>
                </a:solidFill>
                <a:latin typeface="DejaVu Sans"/>
              </a:defRPr>
            </a:pPr>
            <a:r>
              <a:t>Choose a role</a:t>
            </a:r>
          </a:p>
          <a:p>
            <a:pPr>
              <a:spcAft>
                <a:spcPts val="800"/>
              </a:spcAft>
              <a:defRPr sz="1350" b="0">
                <a:solidFill>
                  <a:srgbClr val="49657D"/>
                </a:solidFill>
                <a:latin typeface="DejaVu Sans"/>
              </a:defRPr>
            </a:pPr>
            <a:r>
              <a:t>from the catalogue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46904" y="3246120"/>
            <a:ext cx="182879" cy="0"/>
          </a:xfrm>
          <a:prstGeom prst="line">
            <a:avLst/>
          </a:prstGeom>
          <a:ln w="21590">
            <a:solidFill>
              <a:srgbClr val="087A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57216" y="2377440"/>
            <a:ext cx="212140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21808" y="2542032"/>
            <a:ext cx="914400" cy="32918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87A72"/>
                </a:solidFill>
                <a:latin typeface="DejaVu Sans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21808" y="2944368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324C"/>
                </a:solidFill>
                <a:latin typeface="DejaVu Sans"/>
              </a:defRPr>
            </a:pPr>
            <a:r>
              <a:t>IDENTIFY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3456432"/>
            <a:ext cx="1828800" cy="685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350" b="0">
                <a:solidFill>
                  <a:srgbClr val="49657D"/>
                </a:solidFill>
                <a:latin typeface="DejaVu Sans"/>
              </a:defRPr>
            </a:pPr>
            <a:r>
              <a:t>Review starter skills</a:t>
            </a:r>
          </a:p>
          <a:p>
            <a:pPr>
              <a:spcAft>
                <a:spcPts val="800"/>
              </a:spcAft>
              <a:defRPr sz="1350" b="0">
                <a:solidFill>
                  <a:srgbClr val="49657D"/>
                </a:solidFill>
                <a:latin typeface="DejaVu Sans"/>
              </a:defRPr>
            </a:pPr>
            <a:r>
              <a:t>and self-ratings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06056" y="3246120"/>
            <a:ext cx="182880" cy="0"/>
          </a:xfrm>
          <a:prstGeom prst="line">
            <a:avLst/>
          </a:prstGeom>
          <a:ln w="21590">
            <a:solidFill>
              <a:srgbClr val="087A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16368" y="2377440"/>
            <a:ext cx="212140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2542032"/>
            <a:ext cx="914400" cy="32918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87A72"/>
                </a:solidFill>
                <a:latin typeface="DejaVu Sans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944368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324C"/>
                </a:solidFill>
                <a:latin typeface="DejaVu Sans"/>
              </a:defRPr>
            </a:pPr>
            <a:r>
              <a:t>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0" y="3456432"/>
            <a:ext cx="1828800" cy="685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350" b="0">
                <a:solidFill>
                  <a:srgbClr val="49657D"/>
                </a:solidFill>
                <a:latin typeface="DejaVu Sans"/>
              </a:defRPr>
            </a:pPr>
            <a:r>
              <a:t>Set availability</a:t>
            </a:r>
          </a:p>
          <a:p>
            <a:pPr>
              <a:spcAft>
                <a:spcPts val="800"/>
              </a:spcAft>
              <a:defRPr sz="1350" b="0">
                <a:solidFill>
                  <a:srgbClr val="49657D"/>
                </a:solidFill>
                <a:latin typeface="DejaVu Sans"/>
              </a:defRPr>
            </a:pPr>
            <a:r>
              <a:t>and generate tasks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65208" y="3246120"/>
            <a:ext cx="182880" cy="0"/>
          </a:xfrm>
          <a:prstGeom prst="line">
            <a:avLst/>
          </a:prstGeom>
          <a:ln w="21590">
            <a:solidFill>
              <a:srgbClr val="087A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75520" y="2377440"/>
            <a:ext cx="2121408" cy="1783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40112" y="2542032"/>
            <a:ext cx="914400" cy="32918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87A72"/>
                </a:solidFill>
                <a:latin typeface="DejaVu Sans"/>
              </a:defRPr>
            </a:pPr>
            <a: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40112" y="2944368"/>
            <a:ext cx="182880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12324C"/>
                </a:solidFill>
                <a:latin typeface="DejaVu Sans"/>
              </a:defRPr>
            </a:pPr>
            <a:r>
              <a:t>TRACK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0112" y="3456432"/>
            <a:ext cx="1828800" cy="685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350" b="0">
                <a:solidFill>
                  <a:srgbClr val="49657D"/>
                </a:solidFill>
                <a:latin typeface="DejaVu Sans"/>
              </a:defRPr>
            </a:pPr>
            <a:r>
              <a:t>Completed tasks,</a:t>
            </a:r>
          </a:p>
          <a:p>
            <a:pPr>
              <a:spcAft>
                <a:spcPts val="800"/>
              </a:spcAft>
              <a:defRPr sz="1350" b="0">
                <a:solidFill>
                  <a:srgbClr val="49657D"/>
                </a:solidFill>
                <a:latin typeface="DejaVu Sans"/>
              </a:defRPr>
            </a:pPr>
            <a:r>
              <a:t>practice hours, XP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736592"/>
            <a:ext cx="301752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800"/>
              </a:spcAft>
              <a:defRPr sz="3800" b="1">
                <a:solidFill>
                  <a:srgbClr val="087A72"/>
                </a:solidFill>
                <a:latin typeface="DejaVu Sans"/>
              </a:defRPr>
            </a:pPr>
            <a:r>
              <a:t>923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440680"/>
            <a:ext cx="301752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49657D"/>
                </a:solidFill>
                <a:latin typeface="DejaVu Sans"/>
              </a:defRPr>
            </a:pPr>
            <a:r>
              <a:t>catalogued occupations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4736592"/>
            <a:ext cx="301752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800"/>
              </a:spcAft>
              <a:defRPr sz="3800" b="1">
                <a:solidFill>
                  <a:srgbClr val="087A72"/>
                </a:solidFill>
                <a:latin typeface="DejaVu Sans"/>
              </a:defRPr>
            </a:pPr>
            <a:r>
              <a:t>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5440680"/>
            <a:ext cx="301752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49657D"/>
                </a:solidFill>
                <a:latin typeface="DejaVu Sans"/>
              </a:defRPr>
            </a:pPr>
            <a:r>
              <a:t>assessment questions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736592"/>
            <a:ext cx="301752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800"/>
              </a:spcAft>
              <a:defRPr sz="3800" b="1">
                <a:solidFill>
                  <a:srgbClr val="087A72"/>
                </a:solidFill>
                <a:latin typeface="DejaVu Sans"/>
              </a:defRPr>
            </a:pPr>
            <a: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5440680"/>
            <a:ext cx="301752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49657D"/>
                </a:solidFill>
                <a:latin typeface="DejaVu Sans"/>
              </a:defRPr>
            </a:pPr>
            <a:r>
              <a:t>interface languages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" y="6510528"/>
            <a:ext cx="1129284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50" b="0">
                <a:solidFill>
                  <a:srgbClr val="49657D"/>
                </a:solidFill>
                <a:latin typeface="DejaVu Sans"/>
              </a:defRPr>
            </a:pPr>
            <a:r>
              <a:t>[S3] Source: project code and supplied catalogue. Skill targets, group starter profiles and time estimates include illustrative assumptions.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A72"/>
                </a:solidFill>
                <a:latin typeface="DejaVu Sans"/>
              </a:defRPr>
            </a:pPr>
            <a:r>
              <a:t>FUTURESKILL AI  /  VISUAL FOR SLIDE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338560" cy="8229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2324C"/>
                </a:solidFill>
                <a:latin typeface="DejaVu Sans"/>
              </a:defRPr>
            </a:pPr>
            <a:r>
              <a:t>Iteration made the experience more consistent.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1435608"/>
            <a:ext cx="11292840" cy="4754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49657D"/>
                </a:solidFill>
                <a:latin typeface="DejaVu Sans"/>
              </a:defRPr>
            </a:pPr>
            <a:r>
              <a:t>Actual interface screenshots: an earlier light theme and the current light theme.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1984248"/>
            <a:ext cx="544068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87A72"/>
                </a:solidFill>
                <a:latin typeface="DejaVu Sans"/>
              </a:defRPr>
            </a:pPr>
            <a:r>
              <a:t>EARLIER LIGHT THEME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2414016"/>
            <a:ext cx="544068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ome-before-light.png"/>
          <p:cNvPicPr>
            <a:picLocks noChangeAspect="1"/>
          </p:cNvPicPr>
          <p:nvPr/>
        </p:nvPicPr>
        <p:blipFill>
          <a:blip r:embed="rId2"/>
          <a:srcRect b="60736"/>
          <a:stretch>
            <a:fillRect/>
          </a:stretch>
        </p:blipFill>
        <p:spPr>
          <a:xfrm>
            <a:off x="502920" y="2487168"/>
            <a:ext cx="5312664" cy="319125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27648" y="1984248"/>
            <a:ext cx="5440680" cy="3200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87A72"/>
                </a:solidFill>
                <a:latin typeface="DejaVu Sans"/>
              </a:defRPr>
            </a:pPr>
            <a:r>
              <a:t>REFINED LIGHT THEME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2414016"/>
            <a:ext cx="544068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home-after-light.png"/>
          <p:cNvPicPr>
            <a:picLocks noChangeAspect="1"/>
          </p:cNvPicPr>
          <p:nvPr/>
        </p:nvPicPr>
        <p:blipFill>
          <a:blip r:embed="rId3"/>
          <a:srcRect b="9897"/>
          <a:stretch>
            <a:fillRect/>
          </a:stretch>
        </p:blipFill>
        <p:spPr>
          <a:xfrm>
            <a:off x="6391656" y="2487168"/>
            <a:ext cx="5312664" cy="319125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800"/>
              </a:spcAft>
              <a:defRPr sz="1900" b="0">
                <a:solidFill>
                  <a:srgbClr val="12324C"/>
                </a:solidFill>
                <a:latin typeface="DejaVu Sans"/>
              </a:defRPr>
            </a:pPr>
            <a:r>
              <a:t>Consistent surfaces  /  readable colours  /  preserved navigation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624" y="6510528"/>
            <a:ext cx="1129284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50" b="0">
                <a:solidFill>
                  <a:srgbClr val="49657D"/>
                </a:solidFill>
                <a:latin typeface="DejaVu Sans"/>
              </a:defRPr>
            </a:pPr>
            <a:r>
              <a:t>[S4] Project screenshots; before asset from commit 53cfea7, after capture from 48339bc. This is product iteration, not a user-study result.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A72"/>
                </a:solidFill>
                <a:latin typeface="DejaVu Sans"/>
              </a:defRPr>
            </a:pPr>
            <a:r>
              <a:t>FUTURESKILL AI  /  VISUAL FOR SLIDE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338560" cy="8229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2324C"/>
                </a:solidFill>
                <a:latin typeface="DejaVu Sans"/>
              </a:defRPr>
            </a:pPr>
            <a:r>
              <a:t>Choose a role. Build a plan. Take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1435608"/>
            <a:ext cx="11292840" cy="4754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49657D"/>
                </a:solidFill>
                <a:latin typeface="DejaVu Sans"/>
              </a:defRPr>
            </a:pPr>
            <a:r>
              <a:t>Illustrative learner: Software Developers • 6 hours/week • an 8-week planning horizon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2029968"/>
            <a:ext cx="3456432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87A72"/>
                </a:solidFill>
                <a:latin typeface="DejaVu Sans"/>
              </a:defRPr>
            </a:pPr>
            <a:r>
              <a:t>1  CHOOSE A DIRECTION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2697480"/>
            <a:ext cx="3456432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areer-software-develop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3250691"/>
            <a:ext cx="3346703" cy="22311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70832" y="2029968"/>
            <a:ext cx="3456432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87A72"/>
                </a:solidFill>
                <a:latin typeface="DejaVu Sans"/>
              </a:defRPr>
            </a:pPr>
            <a:r>
              <a:t>2  REVIEW YOUR SKILLS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2697480"/>
            <a:ext cx="3456432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kills-s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3172238"/>
            <a:ext cx="3346704" cy="238804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02752" y="2029968"/>
            <a:ext cx="3456432" cy="5943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87A72"/>
                </a:solidFill>
                <a:latin typeface="DejaVu Sans"/>
              </a:defRPr>
            </a:pPr>
            <a:r>
              <a:t>3  FOLLOW WEEKLY TASKS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02752" y="2697480"/>
            <a:ext cx="3456432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eekly-task-detail-sam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7616" y="3272782"/>
            <a:ext cx="3346704" cy="218695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0624" y="6510528"/>
            <a:ext cx="1129284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50" b="0">
                <a:solidFill>
                  <a:srgbClr val="49657D"/>
                </a:solidFill>
                <a:latin typeface="DejaVu Sans"/>
              </a:defRPr>
            </a:pPr>
            <a:r>
              <a:t>[S5] Real local browser captures with isolated sample inputs. Full-resolution originals are included. No real learner record or measured outcome is shown.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A72"/>
                </a:solidFill>
                <a:latin typeface="DejaVu Sans"/>
              </a:defRPr>
            </a:pPr>
            <a:r>
              <a:t>FUTURESKILL AI  /  VISUAL FOR SLIDE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338560" cy="8229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2324C"/>
                </a:solidFill>
                <a:latin typeface="DejaVu Sans"/>
              </a:defRPr>
            </a:pPr>
            <a:r>
              <a:t>A connected architecture for the current prototype.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1435608"/>
            <a:ext cx="11292840" cy="4754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49657D"/>
                </a:solidFill>
                <a:latin typeface="DejaVu Sans"/>
              </a:defRPr>
            </a:pPr>
            <a:r>
              <a:t>Core career and planning flows use deterministic rules; AI services are a separate integration.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423160"/>
            <a:ext cx="2331720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2596896"/>
            <a:ext cx="20116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2324C"/>
                </a:solidFill>
                <a:latin typeface="DejaVu Sans"/>
              </a:defRPr>
            </a:pPr>
            <a:r>
              <a:t>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3054096"/>
            <a:ext cx="201168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9657D"/>
                </a:solidFill>
                <a:latin typeface="DejaVu Sans"/>
              </a:defRPr>
            </a:pPr>
            <a:r>
              <a:t>HTML / CSS / 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49039" y="2423160"/>
            <a:ext cx="2816352" cy="1188720"/>
          </a:xfrm>
          <a:prstGeom prst="roundRect">
            <a:avLst>
              <a:gd name="adj" fmla="val 8000"/>
            </a:avLst>
          </a:prstGeom>
          <a:solidFill>
            <a:srgbClr val="DCEFFC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0" y="2596896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2324C"/>
                </a:solidFill>
                <a:latin typeface="DejaVu Sans"/>
              </a:defRPr>
            </a:pPr>
            <a:r>
              <a:t>FASTAPI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054096"/>
            <a:ext cx="256032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9657D"/>
                </a:solidFill>
                <a:latin typeface="DejaVu Sans"/>
              </a:defRPr>
            </a:pPr>
            <a:r>
              <a:t>Routes, sessions and orchestration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98064" y="3017520"/>
            <a:ext cx="914399" cy="0"/>
          </a:xfrm>
          <a:prstGeom prst="line">
            <a:avLst/>
          </a:prstGeom>
          <a:ln w="21590">
            <a:solidFill>
              <a:srgbClr val="087A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75320" y="1856231"/>
            <a:ext cx="3410712" cy="1033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1984248"/>
            <a:ext cx="3108960" cy="31089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2324C"/>
                </a:solidFill>
                <a:latin typeface="DejaVu Sans"/>
              </a:defRPr>
            </a:pPr>
            <a:r>
              <a:t>CAREER + PLANNING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0768" y="2395727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70" b="0">
                <a:solidFill>
                  <a:srgbClr val="49657D"/>
                </a:solidFill>
                <a:latin typeface="DejaVu Sans"/>
              </a:defRPr>
            </a:pPr>
            <a:r>
              <a:t>Matching and starter learning plans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574536" y="2359152"/>
            <a:ext cx="1673352" cy="658368"/>
          </a:xfrm>
          <a:prstGeom prst="line">
            <a:avLst/>
          </a:prstGeom>
          <a:ln w="21590">
            <a:solidFill>
              <a:srgbClr val="087A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75320" y="3182112"/>
            <a:ext cx="3410712" cy="1033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0768" y="3310128"/>
            <a:ext cx="3108960" cy="31089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2324C"/>
                </a:solidFill>
                <a:latin typeface="DejaVu Sans"/>
              </a:defRPr>
            </a:pPr>
            <a:r>
              <a:t>CSV / O*NET TASK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3721608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70" b="0">
                <a:solidFill>
                  <a:srgbClr val="49657D"/>
                </a:solidFill>
                <a:latin typeface="DejaVu Sans"/>
              </a:defRPr>
            </a:pPr>
            <a:r>
              <a:t>Occupation profiles and task evidence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574536" y="3017520"/>
            <a:ext cx="1673352" cy="667512"/>
          </a:xfrm>
          <a:prstGeom prst="line">
            <a:avLst/>
          </a:prstGeom>
          <a:ln w="21590">
            <a:solidFill>
              <a:srgbClr val="087A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75320" y="4507992"/>
            <a:ext cx="3410712" cy="103327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0768" y="4636007"/>
            <a:ext cx="3108960" cy="310896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2324C"/>
                </a:solidFill>
                <a:latin typeface="DejaVu Sans"/>
              </a:defRPr>
            </a:pPr>
            <a:r>
              <a:t>SQLITE RECORDS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0768" y="5047488"/>
            <a:ext cx="31089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270" b="0">
                <a:solidFill>
                  <a:srgbClr val="49657D"/>
                </a:solidFill>
                <a:latin typeface="DejaVu Sans"/>
              </a:defRPr>
            </a:pPr>
            <a:r>
              <a:t>Learning, sessions and task progress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74536" y="3017520"/>
            <a:ext cx="1673352" cy="1993392"/>
          </a:xfrm>
          <a:prstGeom prst="line">
            <a:avLst/>
          </a:prstGeom>
          <a:ln w="21590">
            <a:solidFill>
              <a:srgbClr val="087A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749039" y="4224528"/>
            <a:ext cx="2816352" cy="7589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77056" y="4416552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2324C"/>
                </a:solidFill>
                <a:latin typeface="DejaVu Sans"/>
              </a:defRPr>
            </a:pPr>
            <a:r>
              <a:t>FLASK INTERVIEW MODULE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157216" y="3621024"/>
            <a:ext cx="0" cy="576072"/>
          </a:xfrm>
          <a:prstGeom prst="line">
            <a:avLst/>
          </a:prstGeom>
          <a:ln w="21590">
            <a:solidFill>
              <a:srgbClr val="087A7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3749039" y="5477256"/>
            <a:ext cx="2816352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77056" y="5641848"/>
            <a:ext cx="256032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2324C"/>
                </a:solidFill>
                <a:latin typeface="DejaVu Sans"/>
              </a:defRPr>
            </a:pPr>
            <a:r>
              <a:t>OPTIONAL OPENAI SERVICES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157216" y="4992624"/>
            <a:ext cx="0" cy="457200"/>
          </a:xfrm>
          <a:prstGeom prst="line">
            <a:avLst/>
          </a:prstGeom>
          <a:ln w="21590">
            <a:solidFill>
              <a:srgbClr val="087A72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7200" y="5468112"/>
            <a:ext cx="310896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49657D"/>
                </a:solidFill>
                <a:latin typeface="DejaVu Sans"/>
              </a:defRPr>
            </a:pPr>
            <a:r>
              <a:t>Live provider verification pending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069080"/>
            <a:ext cx="2926080" cy="11887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49657D"/>
                </a:solidFill>
                <a:latin typeface="DejaVu Sans"/>
              </a:defRPr>
            </a:pPr>
            <a:r>
              <a:t>Render: hosting</a:t>
            </a:r>
          </a:p>
          <a:p>
            <a:pPr>
              <a:spcAft>
                <a:spcPts val="800"/>
              </a:spcAft>
              <a:defRPr sz="1400" b="0">
                <a:solidFill>
                  <a:srgbClr val="49657D"/>
                </a:solidFill>
                <a:latin typeface="DejaVu Sans"/>
              </a:defRPr>
            </a:pPr>
            <a:r>
              <a:t>GitHub: version control</a:t>
            </a:r>
          </a:p>
          <a:p>
            <a:pPr>
              <a:spcAft>
                <a:spcPts val="800"/>
              </a:spcAft>
              <a:defRPr sz="1400" b="0">
                <a:solidFill>
                  <a:srgbClr val="49657D"/>
                </a:solidFill>
                <a:latin typeface="DejaVu Sans"/>
              </a:defRPr>
            </a:pPr>
            <a:r>
              <a:t>Replit / PyCharm: development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" y="6510528"/>
            <a:ext cx="1129284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50" b="0">
                <a:solidFill>
                  <a:srgbClr val="49657D"/>
                </a:solidFill>
                <a:latin typeface="DejaVu Sans"/>
              </a:defRPr>
            </a:pPr>
            <a:r>
              <a:t>[S6] Source: src/main.py, reskilling/storage.py, explanation_provider.py and hr_interview/. Dashed link: AI service integration pending live verification.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6D3BB"/>
                </a:solidFill>
                <a:latin typeface="DejaVu Sans"/>
              </a:defRPr>
            </a:pPr>
            <a:r>
              <a:t>FUTURESKILL AI  /  VISUAL FOR SLIDE 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338560" cy="8229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Skills development through SDG 4.4.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1435608"/>
            <a:ext cx="11292840" cy="4754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C1D5E7"/>
                </a:solidFill>
                <a:latin typeface="DejaVu Sans"/>
              </a:defRPr>
            </a:pPr>
            <a:r>
              <a:t>Keep the platform contribution distinct from exploratory occupation-to-Goal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" y="2039112"/>
            <a:ext cx="4892040" cy="4142232"/>
          </a:xfrm>
          <a:prstGeom prst="roundRect">
            <a:avLst>
              <a:gd name="adj" fmla="val 8000"/>
            </a:avLst>
          </a:prstGeom>
          <a:solidFill>
            <a:srgbClr val="142E4B"/>
          </a:solidFill>
          <a:ln w="12700">
            <a:solidFill>
              <a:srgbClr val="142E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n-sdg-4-offi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67712"/>
            <a:ext cx="914400" cy="914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773936" y="2322576"/>
            <a:ext cx="320040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FFFFF"/>
                </a:solidFill>
                <a:latin typeface="DejaVu Sans"/>
              </a:defRPr>
            </a:pPr>
            <a:r>
              <a:t>PLATFORM CONTRIBUTION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429000"/>
            <a:ext cx="4297680" cy="1508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C1D5E7"/>
                </a:solidFill>
                <a:latin typeface="DejaVu Sans"/>
              </a:defRPr>
            </a:pPr>
            <a:r>
              <a:t>Identify practice priorities</a:t>
            </a:r>
          </a:p>
          <a:p>
            <a:pPr>
              <a:spcAft>
                <a:spcPts val="800"/>
              </a:spcAft>
              <a:defRPr sz="2000" b="0">
                <a:solidFill>
                  <a:srgbClr val="C1D5E7"/>
                </a:solidFill>
                <a:latin typeface="DejaVu Sans"/>
              </a:defRPr>
            </a:pPr>
            <a:r>
              <a:t>Follow learning activities</a:t>
            </a:r>
          </a:p>
          <a:p>
            <a:pPr>
              <a:spcAft>
                <a:spcPts val="800"/>
              </a:spcAft>
              <a:defRPr sz="2000" b="0">
                <a:solidFill>
                  <a:srgbClr val="C1D5E7"/>
                </a:solidFill>
                <a:latin typeface="DejaVu Sans"/>
              </a:defRPr>
            </a:pPr>
            <a:r>
              <a:t>Track completed tasks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12080"/>
            <a:ext cx="4297680" cy="6858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C1D5E7"/>
                </a:solidFill>
                <a:latin typeface="DejaVu Sans"/>
              </a:defRPr>
            </a:pPr>
            <a:r>
              <a:t>Potential support for skills development.</a:t>
            </a:r>
          </a:p>
          <a:p>
            <a:pPr>
              <a:spcAft>
                <a:spcPts val="800"/>
              </a:spcAft>
              <a:defRPr sz="1400" b="0">
                <a:solidFill>
                  <a:srgbClr val="C1D5E7"/>
                </a:solidFill>
                <a:latin typeface="DejaVu Sans"/>
              </a:defRPr>
            </a:pPr>
            <a:r>
              <a:t>Impact is to be evaluated in the pilot.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596128" y="2039112"/>
            <a:ext cx="6135624" cy="4142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dg-task-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1576" y="2201620"/>
            <a:ext cx="3008376" cy="380807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51976" y="2432304"/>
            <a:ext cx="2560320" cy="64008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2324C"/>
                </a:solidFill>
                <a:latin typeface="DejaVu Sans"/>
              </a:defRPr>
            </a:pPr>
            <a:r>
              <a:t>TASK IDs +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1976" y="3291840"/>
            <a:ext cx="2514600" cy="23774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49657D"/>
                </a:solidFill>
                <a:latin typeface="DejaVu Sans"/>
              </a:defRPr>
            </a:pPr>
            <a:r>
              <a:t>Solar Energy Systems Engineers</a:t>
            </a:r>
          </a:p>
          <a:p>
            <a:pPr>
              <a:spcAft>
                <a:spcPts val="800"/>
              </a:spcAft>
              <a:defRPr sz="1500" b="0">
                <a:solidFill>
                  <a:srgbClr val="49657D"/>
                </a:solidFill>
                <a:latin typeface="DejaVu Sans"/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49657D"/>
                </a:solidFill>
                <a:latin typeface="DejaVu Sans"/>
              </a:defRPr>
            </a:pPr>
            <a:r>
              <a:t>O*NET Task ID 16570</a:t>
            </a:r>
          </a:p>
          <a:p>
            <a:pPr>
              <a:spcAft>
                <a:spcPts val="800"/>
              </a:spcAft>
              <a:defRPr sz="1500" b="0">
                <a:solidFill>
                  <a:srgbClr val="49657D"/>
                </a:solidFill>
                <a:latin typeface="DejaVu Sans"/>
              </a:defRPr>
            </a:pPr>
          </a:p>
          <a:p>
            <a:pPr>
              <a:spcAft>
                <a:spcPts val="800"/>
              </a:spcAft>
              <a:defRPr sz="1500" b="0">
                <a:solidFill>
                  <a:srgbClr val="49657D"/>
                </a:solidFill>
                <a:latin typeface="DejaVu Sans"/>
              </a:defRPr>
            </a:pPr>
            <a:r>
              <a:t>Exploratory Target 7.2 hypothesis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6510528"/>
            <a:ext cx="1129284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50" b="0">
                <a:solidFill>
                  <a:srgbClr val="C1D5E7"/>
                </a:solidFill>
                <a:latin typeface="DejaVu Sans"/>
              </a:defRPr>
            </a:pPr>
            <a:r>
              <a:t>[S7] UN Goal 4 / Target 4.4; O*NET 31.0 Task Statements. Source data does not validate the project’s SDG interpretation or imply UN endorsement.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087A72"/>
                </a:solidFill>
                <a:latin typeface="DejaVu Sans"/>
              </a:defRPr>
            </a:pPr>
            <a:r>
              <a:t>FUTURESKILL AI  /  VISUAL FOR SLIDE 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338560" cy="8229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2324C"/>
                </a:solidFill>
                <a:latin typeface="DejaVu Sans"/>
              </a:defRPr>
            </a:pPr>
            <a:r>
              <a:t>A measurable route to Phase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1435608"/>
            <a:ext cx="11292840" cy="4754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49657D"/>
                </a:solidFill>
                <a:latin typeface="DejaVu Sans"/>
              </a:defRPr>
            </a:pPr>
            <a:r>
              <a:t>Separate implemented capabilities, engineering checks and future user outcomes.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5440680" cy="2450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13432"/>
            <a:ext cx="4956048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A72"/>
                </a:solidFill>
                <a:latin typeface="DejaVu Sans"/>
              </a:defRPr>
            </a:pPr>
            <a:r>
              <a:t>CURRENT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62072"/>
            <a:ext cx="4919472" cy="1600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2324C"/>
                </a:solidFill>
                <a:latin typeface="DejaVu Sans"/>
              </a:defRPr>
            </a:pPr>
            <a:r>
              <a:t>Career exploration</a:t>
            </a:r>
          </a:p>
          <a:p>
            <a:pPr>
              <a:spcAft>
                <a:spcPts val="800"/>
              </a:spcAft>
              <a:defRPr sz="1800" b="0">
                <a:solidFill>
                  <a:srgbClr val="12324C"/>
                </a:solidFill>
                <a:latin typeface="DejaVu Sans"/>
              </a:defRPr>
            </a:pPr>
            <a:r>
              <a:t>Starter learning pathways</a:t>
            </a:r>
          </a:p>
          <a:p>
            <a:pPr>
              <a:spcAft>
                <a:spcPts val="800"/>
              </a:spcAft>
              <a:defRPr sz="1800" b="0">
                <a:solidFill>
                  <a:srgbClr val="12324C"/>
                </a:solidFill>
                <a:latin typeface="DejaVu Sans"/>
              </a:defRPr>
            </a:pPr>
            <a:r>
              <a:t>SQLite task tracking</a:t>
            </a:r>
          </a:p>
          <a:p>
            <a:pPr>
              <a:spcAft>
                <a:spcPts val="800"/>
              </a:spcAft>
              <a:defRPr sz="1800" b="0">
                <a:solidFill>
                  <a:srgbClr val="12324C"/>
                </a:solidFill>
                <a:latin typeface="DejaVu Sans"/>
              </a:defRPr>
            </a:pPr>
            <a:r>
              <a:t>Three-language interface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03120"/>
            <a:ext cx="5440680" cy="2450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C5D9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313432"/>
            <a:ext cx="4956048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87A72"/>
                </a:solidFill>
                <a:latin typeface="DejaVu Sans"/>
              </a:defRPr>
            </a:pPr>
            <a:r>
              <a:t>PHASE 2 PRIORITIES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862072"/>
            <a:ext cx="4919472" cy="1600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12324C"/>
                </a:solidFill>
                <a:latin typeface="DejaVu Sans"/>
              </a:defRPr>
            </a:pPr>
            <a:r>
              <a:t>Structured student pilot</a:t>
            </a:r>
          </a:p>
          <a:p>
            <a:pPr>
              <a:spcAft>
                <a:spcPts val="800"/>
              </a:spcAft>
              <a:defRPr sz="1800" b="0">
                <a:solidFill>
                  <a:srgbClr val="12324C"/>
                </a:solidFill>
                <a:latin typeface="DejaVu Sans"/>
              </a:defRPr>
            </a:pPr>
            <a:r>
              <a:t>Validate role requirements</a:t>
            </a:r>
          </a:p>
          <a:p>
            <a:pPr>
              <a:spcAft>
                <a:spcPts val="800"/>
              </a:spcAft>
              <a:defRPr sz="1800" b="0">
                <a:solidFill>
                  <a:srgbClr val="12324C"/>
                </a:solidFill>
                <a:latin typeface="DejaVu Sans"/>
              </a:defRPr>
            </a:pPr>
            <a:r>
              <a:t>Verify live AI services</a:t>
            </a:r>
          </a:p>
          <a:p>
            <a:pPr>
              <a:spcAft>
                <a:spcPts val="800"/>
              </a:spcAft>
              <a:defRPr sz="1800" b="0">
                <a:solidFill>
                  <a:srgbClr val="12324C"/>
                </a:solidFill>
                <a:latin typeface="DejaVu Sans"/>
              </a:defRPr>
            </a:pPr>
            <a:r>
              <a:t>Security, durable storage and monitoring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82896"/>
            <a:ext cx="11247120" cy="1225296"/>
          </a:xfrm>
          <a:prstGeom prst="roundRect">
            <a:avLst>
              <a:gd name="adj" fmla="val 8000"/>
            </a:avLst>
          </a:prstGeom>
          <a:solidFill>
            <a:srgbClr val="DCEFFC"/>
          </a:solidFill>
          <a:ln w="12700">
            <a:solidFill>
              <a:srgbClr val="DCEF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5056632"/>
            <a:ext cx="10698480" cy="45720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2324C"/>
                </a:solidFill>
                <a:latin typeface="DejaVu Sans"/>
              </a:defRPr>
            </a:pPr>
            <a:r>
              <a:t>PROPOSED PILOT: 20 STUDENTS  /  TARGET: AT LEAST 16 SUCCEED (80%)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5596128"/>
            <a:ext cx="10698480" cy="420624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49657D"/>
                </a:solidFill>
                <a:latin typeface="DejaVu Sans"/>
              </a:defRPr>
            </a:pPr>
            <a:r>
              <a:t>Success: independently create a plan and explain the priority skill and next activity. Baseline: not yet measured.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" y="6510528"/>
            <a:ext cx="1129284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50" b="0">
                <a:solidFill>
                  <a:srgbClr val="49657D"/>
                </a:solidFill>
                <a:latin typeface="DejaVu Sans"/>
              </a:defRPr>
            </a:pPr>
            <a:r>
              <a:t>[S8] 80% is the team’s Phase 2 target. A 20-person sample and 16 successes are a proposed test design, not observed results.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36D3BB"/>
                </a:solidFill>
                <a:latin typeface="DejaVu Sans"/>
              </a:defRPr>
            </a:pPr>
            <a:r>
              <a:t>FUTURESKILL AI  /  VISUAL FOR SLIDE 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76656"/>
            <a:ext cx="11338560" cy="8229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FFFFF"/>
                </a:solidFill>
                <a:latin typeface="DejaVu Sans"/>
              </a:defRPr>
            </a:pPr>
            <a:r>
              <a:t>From “What should I do?”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" y="1435608"/>
            <a:ext cx="11292840" cy="475488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C1D5E7"/>
                </a:solidFill>
                <a:latin typeface="DejaVu Sans"/>
              </a:defRPr>
            </a:pPr>
            <a:r>
              <a:t>to “What can I learn next?”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0"/>
            <a:ext cx="7040880" cy="123444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FFFFF"/>
                </a:solidFill>
                <a:latin typeface="DejaVu Sans"/>
              </a:defRPr>
            </a:pPr>
            <a:r>
              <a:t>Test a clearer plan.</a:t>
            </a:r>
          </a:p>
          <a:p>
            <a:pPr>
              <a:spcAft>
                <a:spcPts val="800"/>
              </a:spcAft>
              <a:defRPr sz="2900" b="1">
                <a:solidFill>
                  <a:srgbClr val="FFFFFF"/>
                </a:solidFill>
                <a:latin typeface="DejaVu Sans"/>
              </a:defRPr>
            </a:pPr>
            <a:r>
              <a:t>Find a clearer next step.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6949440" cy="8229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C1D5E7"/>
                </a:solidFill>
                <a:latin typeface="DejaVu Sans"/>
              </a:defRPr>
            </a:pPr>
            <a:r>
              <a:t>Proposed ask: student pilot participants</a:t>
            </a:r>
          </a:p>
          <a:p>
            <a:pPr>
              <a:spcAft>
                <a:spcPts val="800"/>
              </a:spcAft>
              <a:defRPr sz="2100" b="0">
                <a:solidFill>
                  <a:srgbClr val="C1D5E7"/>
                </a:solidFill>
                <a:latin typeface="DejaVu Sans"/>
              </a:defRPr>
            </a:pPr>
            <a:r>
              <a:t>and career-service feedback.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03520"/>
            <a:ext cx="6949440" cy="7315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36D3BB"/>
                </a:solidFill>
                <a:latin typeface="DejaVu Sans"/>
              </a:defRPr>
            </a:pPr>
            <a:r>
              <a:t>Francium fluoride</a:t>
            </a:r>
          </a:p>
          <a:p>
            <a:pPr>
              <a:spcAft>
                <a:spcPts val="800"/>
              </a:spcAft>
              <a:defRPr sz="1800" b="1">
                <a:solidFill>
                  <a:srgbClr val="36D3BB"/>
                </a:solidFill>
                <a:latin typeface="DejaVu Sans"/>
              </a:defRPr>
            </a:pPr>
            <a:r>
              <a:t>Xiamen University Malaysia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057400"/>
            <a:ext cx="3474720" cy="3474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ive-demo-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5048" y="2212848"/>
            <a:ext cx="3163824" cy="31638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0" y="5760720"/>
            <a:ext cx="4023360" cy="36576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36D3BB"/>
                </a:solidFill>
                <a:latin typeface="DejaVu Sans"/>
              </a:defRPr>
            </a:pPr>
            <a:r>
              <a:t>SCAN TO TRY THE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" y="6510528"/>
            <a:ext cx="11292840" cy="274320"/>
          </a:xfrm>
          <a:prstGeom prst="rect">
            <a:avLst/>
          </a:prstGeom>
          <a:noFill/>
        </p:spPr>
        <p:txBody>
          <a:bodyPr wrap="square" lIns="18288" rIns="18288" tIns="18288" bIns="0">
            <a:spAutoFit/>
          </a:bodyPr>
          <a:lstStyle/>
          <a:p>
            <a:pPr>
              <a:spcAft>
                <a:spcPts val="800"/>
              </a:spcAft>
              <a:defRPr sz="950" b="0">
                <a:solidFill>
                  <a:srgbClr val="C1D5E7"/>
                </a:solidFill>
                <a:latin typeface="DejaVu Sans"/>
              </a:defRPr>
            </a:pPr>
            <a:r>
              <a:t>[S9] QR encodes https://future-skill-ai-model.onrender.com/ • URL supplied by the team; live deployment was not verified from this cloud environment.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